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0362895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9235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NEXT-GENERATION EXPERIENTIAL LEARNING</a:t>
            </a:r>
          </a:p>
          <a:p>
            <a:pPr>
              <a:spcBef>
                <a:spcPts val="800"/>
              </a:spcBef>
              <a:defRPr sz="3200" b="1">
                <a:solidFill>
                  <a:srgbClr val="0F172A"/>
                </a:solidFill>
                <a:latin typeface="Segoe UI"/>
              </a:defRPr>
            </a:pPr>
            <a:r>
              <a:t>MissionX: AI &amp; IoT Escape Room Platform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Bridging Computer Science Education with Real-Time Physical Sensor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474720"/>
            <a:ext cx="148590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ESP32 DevKit 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31820" y="3474720"/>
            <a:ext cx="1563624" cy="256032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DHT22 Sensor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8324" y="3474720"/>
            <a:ext cx="1641348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D97706"/>
                </a:solidFill>
                <a:latin typeface="Segoe UI"/>
              </a:defRPr>
            </a:pPr>
            <a:r>
              <a:t>Wokwi Virtual Lab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2552" y="3474720"/>
            <a:ext cx="1874520" cy="256032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7C3AED"/>
                </a:solidFill>
                <a:latin typeface="Segoe UI"/>
              </a:defRPr>
            </a:pPr>
            <a:r>
              <a:t>Next.js 14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9952" y="3474720"/>
            <a:ext cx="1330452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10956A"/>
                </a:solidFill>
                <a:latin typeface="Segoe UI"/>
              </a:defRPr>
            </a:pPr>
            <a:r>
              <a:t>MongoDB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1148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Prepared for Academic Capstone &amp; Project Viva Evaluation  •  Engineering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What is MissionX? Concept &amp; Core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gamified SaaS platform replacing passive quiz portals with interactive mission challenges.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THE PROBLEM: PASSIVE EDUCATION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✕  Rote Memorization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Students memorize algorithms without real systems context.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✕  No Physical Stakes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Code runs in vacuum terminals without hardware feedback.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✕  Isolated Silos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Software engineering and IoT hardware taught as separate topics.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✕  Low Student Engagement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Traditional multiple-choice portals lack excitement.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THE SOLUTION: MISSIONX PLATFORM</a:t>
            </a:r>
          </a:p>
          <a:p>
            <a:pPr>
              <a:spcBef>
                <a:spcPts val="1000"/>
              </a:spcBef>
              <a:defRPr b="1" sz="1100">
                <a:solidFill>
                  <a:srgbClr val="2563EB"/>
                </a:solidFill>
              </a:defRPr>
            </a:pPr>
            <a:r>
              <a:t>✔  Escape Room Challenge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Gamifies CS curriculum into timed mission scenarios.</a:t>
            </a:r>
          </a:p>
          <a:p>
            <a:pPr>
              <a:spcBef>
                <a:spcPts val="1000"/>
              </a:spcBef>
              <a:defRPr b="1" sz="1100">
                <a:solidFill>
                  <a:srgbClr val="2563EB"/>
                </a:solidFill>
              </a:defRPr>
            </a:pPr>
            <a:r>
              <a:t>✔  Live IoT Sensor Telemetry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Ambient laboratory temperature sets dynamic puzzle urgency.</a:t>
            </a:r>
          </a:p>
          <a:p>
            <a:pPr>
              <a:spcBef>
                <a:spcPts val="1000"/>
              </a:spcBef>
              <a:defRPr b="1" sz="1100">
                <a:solidFill>
                  <a:srgbClr val="2563EB"/>
                </a:solidFill>
              </a:defRPr>
            </a:pPr>
            <a:r>
              <a:t>✔  Mission Control Dashboard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Real-time command center tracking team skills and telemetry.</a:t>
            </a:r>
          </a:p>
          <a:p>
            <a:pPr>
              <a:spcBef>
                <a:spcPts val="1000"/>
              </a:spcBef>
              <a:defRPr b="1" sz="1100">
                <a:solidFill>
                  <a:srgbClr val="2563EB"/>
                </a:solidFill>
              </a:defRPr>
            </a:pPr>
            <a:r>
              <a:t>✔  Zero-Hardware Simulator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Full virtual lab workbench accessible from any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IOT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Why Did We Include IoT? Technical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How physical telemetry bridges real-world engineering constraints with software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2057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Datacenter Realism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Physical data centers fail if thermal levels exceed operating limits. Introducing real ambient telemetry reflects actual IT infrastructure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257800" cy="20574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7452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2. Dynamic Challenge Urgency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Elevated temperature (&gt; 28°C) activates warning alarms and clock penalties, transforming flat quiz questions into an emergency escape scenario.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19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19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3. Cyber-Physical Co-Design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Teaches end-to-end systems engineering: C++ Microcontroller Firmware ➔ 1-Wire Digital Bus ➔ JSON Packets ➔ Web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160519"/>
            <a:ext cx="73152" cy="1691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19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4. Automated Actuator Loops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Telemetry drives hardware actuators! Red alert LEDs illuminate and acoustic buzzers beep automatically when temperature breaches safety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EMBEDDED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IoT Hardware Architecture &amp; Edge Sensor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Technical specifications of the ESP32 microcontroller, DHT22 sensor, and actuator circuit.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2920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HARDWARE COMPONENT ROSTER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•  ESP32 DevKit V1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Dual-Core Xtensa 240MHz, 520KB SRAM, 2.4GHz Wi-Fi.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•  DHT22 (AM2302) Sensor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Digital temp (-40°C to 80°C) &amp; humidity on 1-Wire bus.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•  Status Blue LED (GPIO 2)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Flashes on heartbeat &amp; packet transmissions.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•  Alert Red LED (GPIO 15)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Automatically illuminates when temp &gt; 28.0°C.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•  Piezo Buzzer (GPIO 13)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Acoustic warning pulses when temp &gt; 32.0°C.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3035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CIRCUIT WIRING &amp; PIN INTERFACE MAP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2286000"/>
          <a:ext cx="4846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2011680"/>
              </a:tblGrid>
              <a:tr h="418011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563EB"/>
                          </a:solidFill>
                        </a:defRPr>
                      </a:pPr>
                      <a:r>
                        <a:t>Component Pin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563EB"/>
                          </a:solidFill>
                        </a:defRPr>
                      </a:pPr>
                      <a:r>
                        <a:t>ESP32 Pin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563EB"/>
                          </a:solidFill>
                        </a:defRPr>
                      </a:pPr>
                      <a:r>
                        <a:t>Signal / Function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DHT22 VCC (Pin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3V3 (3.3V)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Power Rail (+)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DHT22 DATA (Pin 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GPIO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Digital 1-Wire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DHT22 GND (Pin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GND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Common Ground (-)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Status LED Anode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GPIO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WiFi TX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Alert LED Anode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GPIO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Overheat Warning (&gt;28°C)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Buzzer Positive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GPIO 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Acoustic Alarm (&gt;32°C)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539496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⚡ Built-in 10kΩ pull-up resistor stabilizes the digital 1-Wire bus.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VIRTUAL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Virtual Hardware Simulation: Two Zero-Hardware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Testing and demonstrating real-time IoT hardware without physical breadboards.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OPTION 1: BUILT-IN WORKBENCH (/simulator)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✔  Visual Circuit Breadboard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Realistic animated view of ESP32, DHT22, wiring &amp; OLED.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✔  Interactive Sliders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Real-time dials for Temp (15°C–48°C) and Humidity (10%–95%).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✔  One-Click Presets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Normal (22°C), Warm (28°C), Overheat (34°C), Meltdown (45°C).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✔  Live Serial Monitor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115200 baud console emulating Arduino IDE serial logs.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✔  Instant Dashboard Sync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Overriding values immediately propagates to live dashboard!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257800" cy="4480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OPTION 2: WOKWI CLOUD SIMULATOR (wokwi.com)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⚡  Industry Standard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Cycle-accurate browser ESP32 emulator with zero setup.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⚡  Real Arduino C++ Sketch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Ready-to-compile esp32_sensor_sim.ino with DHT library.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⚡  Declarative Wiring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Configured via diagram.json linking ESP32 to DHT22 &amp; LEDs.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⚡  Interactive Sensor Drag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Click on the virtual DHT22 to adjust temp and trigger alarms.</a:t>
            </a:r>
          </a:p>
          <a:p>
            <a:pPr>
              <a:spcBef>
                <a:spcPts val="700"/>
              </a:spcBef>
              <a:defRPr b="1" sz="1050">
                <a:solidFill>
                  <a:srgbClr val="0F172A"/>
                </a:solidFill>
              </a:defRPr>
            </a:pPr>
            <a:r>
              <a:t>⚡  Viva-Ready Proof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Proves firmware and circuit logic are 100% production-ready.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 &amp; End-to-End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Seamless data pipeline connecting edge telemetry to the reactive web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116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0116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1. EDGE IOT NODE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ESP32 + DHT22</a:t>
            </a:r>
          </a:p>
          <a:p>
            <a:pPr>
              <a:spcBef>
                <a:spcPts val="1200"/>
              </a:spcBef>
              <a:defRPr sz="950">
                <a:solidFill>
                  <a:srgbClr val="334155"/>
                </a:solidFill>
              </a:defRPr>
            </a:pPr>
            <a:r>
              <a:t>Reads 1-Wire sensor bus every 3000ms. Builds JSON payload.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737360"/>
            <a:ext cx="20116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2" y="1737360"/>
            <a:ext cx="20116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92024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2. TRANSPORT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HTTP / MQTT</a:t>
            </a:r>
          </a:p>
          <a:p>
            <a:pPr>
              <a:spcBef>
                <a:spcPts val="1200"/>
              </a:spcBef>
              <a:defRPr sz="950">
                <a:solidFill>
                  <a:srgbClr val="334155"/>
                </a:solidFill>
              </a:defRPr>
            </a:pPr>
            <a:r>
              <a:t>Transmits to Express API or publishes on MQTT Port 1883.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737360"/>
            <a:ext cx="20116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737360"/>
            <a:ext cx="20116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92024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3. BACKEND API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Express.js Engine</a:t>
            </a:r>
          </a:p>
          <a:p>
            <a:pPr>
              <a:spcBef>
                <a:spcPts val="1200"/>
              </a:spcBef>
              <a:defRPr sz="950">
                <a:solidFill>
                  <a:srgbClr val="334155"/>
                </a:solidFill>
              </a:defRPr>
            </a:pPr>
            <a:r>
              <a:t>Validates thresholds &amp; stores 30-sample rolling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737360"/>
            <a:ext cx="20116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0336" y="1737360"/>
            <a:ext cx="20116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192024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4. DATABASE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MongoDB Cloud</a:t>
            </a:r>
          </a:p>
          <a:p>
            <a:pPr>
              <a:spcBef>
                <a:spcPts val="1200"/>
              </a:spcBef>
              <a:defRPr sz="950">
                <a:solidFill>
                  <a:srgbClr val="334155"/>
                </a:solidFill>
              </a:defRPr>
            </a:pPr>
            <a:r>
              <a:t>Persists sensor readings, users, subjects, and quiz scores.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737360"/>
            <a:ext cx="20116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36608" y="1737360"/>
            <a:ext cx="2011680" cy="91440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46336" y="192024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956A"/>
                </a:solidFill>
              </a:defRPr>
            </a:pPr>
            <a:r>
              <a:t>5. WEB DASHBOARD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Next.js 14 Client</a:t>
            </a:r>
          </a:p>
          <a:p>
            <a:pPr>
              <a:spcBef>
                <a:spcPts val="1200"/>
              </a:spcBef>
              <a:defRPr sz="950">
                <a:solidFill>
                  <a:srgbClr val="334155"/>
                </a:solidFill>
              </a:defRPr>
            </a:pPr>
            <a:r>
              <a:t>Polls every 3s. Renders live gauges and challenge meters.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🔄 Sub-second bidirectional loop: Manual slider injection immediately updates all web clients.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CURRICULUM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Academic Curriculum &amp; Interactive Quiz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Pre-seeded with university-standard engineering questions across 4 core CS subjects.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74520"/>
            <a:ext cx="73152" cy="1691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745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📚  Data Structures (DSA)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Arrays, Stacks, Queues, Binary Trees, Heaps, and Graph algorithms. Evaluates Big-O time and space complexity.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Status: 5 Questions • 80% Seed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25780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874520"/>
            <a:ext cx="73152" cy="1691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📚  Database Systems (DBMS)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Relational schemas, Normalization (1NF–BCNF), SQL Joins, ACID transactions, and Indexing optimizations.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Status: 5 Questions • 60% Seed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160519"/>
            <a:ext cx="73152" cy="1691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19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📚  Operating Systems (OS)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Process scheduling, CPU dispatching, Deadlocks, Paging, Virtual Memory, and Thrashing prevention.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Status: 5 Questions • 40% Seed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4160519"/>
            <a:ext cx="73152" cy="1691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160519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📚  Computer Networks (CN)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OSI 7 Layers, TCP/IP handshakes, VLSM Subnetting, Routing protocols, and DNS/DHCP infrastructure.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Status: 5 Questions • 20% Seed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PLATFORM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MissionX Web Application &amp; 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Intuitive, modern web application designed for students and evaluators.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2024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8288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Dashboard (/dashboard)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Unified command center with live sensor widgets, 4-subject learning progress meters, and quick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728655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3063240"/>
            <a:ext cx="54864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9718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Live Sensor Console (/sensor)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Primary sensor dial, 3-second live sampling loop, technical specifications, and rolling 8-sample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728655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206239"/>
            <a:ext cx="54864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4114799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Hardware Simulator (/simulator)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Full breadboard visualizer, temp/humidity sliders, presets, 115200 baud serial monitor, and C++ sketch viewer.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5349240"/>
            <a:ext cx="548640" cy="548640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52578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6A"/>
                </a:solidFill>
              </a:defRPr>
            </a:pPr>
            <a:r>
              <a:t>Subject Challenge Quizzes (/quiz/[id])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Interactive quiz engine with option selection, immediate validation feedback, explanations, and score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Summary, Academic Impact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Demonstrating cyber-physical systems engineering with zero hardware barriers.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KEY PROJECT ACHIEVEMENTS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✔  Full-Stack Cyber-Physical System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Working integration of Next.js 14, Node/Express, MongoDB, and ESP32 telemetry.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✔  Zero-Hardware Accessibility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Solves component shortages via built-in Web Workbench &amp; Wokwi simulation.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✔  Real-Time Telemetry Pipeline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Continuous 3s sampling, threshold warnings (&gt;28°C), and acoustic alarms (&gt;32°C).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✔  Gamified CS Pedagogy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Measurable student progress tracking across Data Structures, DBMS, OS, and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257800" cy="4480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FUTURE EXPANSION ROADMAP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🚀  Physical Testbed Deployment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Flash firmware to physical ESP32 boards with RFID readers &amp; Solenoid locks.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🚀  Multi-Sensor Sensor Grid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Add Ultrasonic proximity sensors, PIR motion detectors, and MQ-2 smoke sensors.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🚀  AI Dynamic Hint Engine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LLM-driven hint generation with dynamic time penalty trade-offs.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🚀  Multiplayer Co-op Rooms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 WebSocket room synchronization for multi-student collaborative escape rooms.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