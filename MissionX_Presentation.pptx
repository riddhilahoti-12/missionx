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0" cy="73152"/>
          </a:xfrm>
          <a:prstGeom prst="rect">
            <a:avLst/>
          </a:prstGeom>
          <a:solidFill>
            <a:srgbClr val="00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3474720" cy="365760"/>
          </a:xfrm>
          <a:prstGeom prst="roundRect">
            <a:avLst/>
          </a:prstGeom>
          <a:solidFill>
            <a:srgbClr val="1E2941"/>
          </a:solidFill>
          <a:ln w="1270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0FF"/>
                </a:solidFill>
                <a:latin typeface="Segoe UI"/>
              </a:defRPr>
            </a:pPr>
            <a:r>
              <a:t>★ 100% PURE SOFTWARE WEB GAME (ZERO HARDWARE)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8FAFC"/>
                </a:solidFill>
                <a:latin typeface="Segoe UI"/>
              </a:defRPr>
            </a:pPr>
            <a:r>
              <a:t>MissionX</a:t>
            </a:r>
          </a:p>
          <a:p>
            <a:pPr>
              <a:spcBef>
                <a:spcPts val="800"/>
              </a:spcBef>
              <a:defRPr sz="2800" b="1">
                <a:solidFill>
                  <a:srgbClr val="00F0FF"/>
                </a:solidFill>
                <a:latin typeface="Segoe UI"/>
              </a:defRPr>
            </a:pPr>
            <a:r>
              <a:t>AI-Powered Educational 3D Escape Room Platform</a:t>
            </a:r>
          </a:p>
          <a:p>
            <a:pPr>
              <a:spcBef>
                <a:spcPts val="1000"/>
              </a:spcBef>
              <a:defRPr sz="1500">
                <a:solidFill>
                  <a:srgbClr val="94A3B8"/>
                </a:solidFill>
                <a:latin typeface="Segoe UI"/>
              </a:defRPr>
            </a:pPr>
            <a:r>
              <a:t>Transforming Higher Computer Science Education Through Immersive, Gamified Web Simulation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480560"/>
            <a:ext cx="2468880" cy="128016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00F0FF"/>
                </a:solidFill>
                <a:latin typeface="Segoe UI"/>
              </a:defRPr>
            </a:pPr>
            <a:r>
              <a:t>Next.js 14 &amp; Three.js 3D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Interactive WebGL Rooms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4480560"/>
            <a:ext cx="2468880" cy="128016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00F0FF"/>
                </a:solidFill>
                <a:latin typeface="Segoe UI"/>
              </a:defRPr>
            </a:pPr>
            <a:r>
              <a:t>Real-Time Multiplayer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Sub-15ms WebSocket Sync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480560"/>
            <a:ext cx="2468880" cy="128016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00F0FF"/>
                </a:solidFill>
                <a:latin typeface="Segoe UI"/>
              </a:defRPr>
            </a:pPr>
            <a:r>
              <a:t>Dual AI LLM Mentorship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OpenAI GPT-4o &amp; Gemini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4480560"/>
            <a:ext cx="2468880" cy="128016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00F0FF"/>
                </a:solidFill>
                <a:latin typeface="Segoe UI"/>
              </a:defRPr>
            </a:pPr>
            <a:r>
              <a:t>ABET CO1-CO6 Aligned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Automated Skill Radar Reports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Course Alignment: 25SC2008E (Full Stack Web Development) • Zero Hardware Required • Runs in Modern Browsers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Segoe UI"/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The Pedagogical Dilemma in Computer Science Education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Why traditional lecture-based CS education struggles to build intuitive problem-solving skills.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64992" cy="43891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F59E0B"/>
                </a:solidFill>
                <a:latin typeface="Segoe UI"/>
              </a:defRPr>
            </a:pPr>
            <a:r>
              <a:t>01. Passive &amp; Rote Learning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  <a:latin typeface="Segoe UI"/>
              </a:defRPr>
            </a:pPr>
            <a:r>
              <a:t>Traditional lectures and static code memorization fail to engage modern engineering students.</a:t>
            </a:r>
            <a:br/>
            <a:br/>
            <a:r>
              <a:t>• Theoretical concepts (A* search, B-Trees, page replacement) feel abstract and disconnected from real crises.</a:t>
            </a:r>
            <a:br/>
            <a:r>
              <a:t>• Low knowledge retention (&lt;25%) when students only read code rather than interact with living systems.</a:t>
            </a:r>
            <a:br/>
            <a:r>
              <a:t>• High drop-off rate during complex algorithmic topics.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64992" cy="43891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F59E0B"/>
                </a:solidFill>
                <a:latin typeface="Segoe UI"/>
              </a:defRPr>
            </a:pPr>
            <a:r>
              <a:t>02. Lack of Collaborative Stakes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  <a:latin typeface="Segoe UI"/>
              </a:defRPr>
            </a:pPr>
            <a:r>
              <a:t>Standard coding assignments are solitary and lack real-time cooperative dynamics.</a:t>
            </a:r>
            <a:br/>
            <a:br/>
            <a:r>
              <a:t>• Students don't learn critical team engineering dynamics or distributed problem-solving.</a:t>
            </a:r>
            <a:br/>
            <a:r>
              <a:t>• No real-time pressure or urgency to make sound architectural tradeoffs.</a:t>
            </a:r>
            <a:br/>
            <a:r>
              <a:t>• Lack of synchronized multi-agent troubleshooting environments in academic curriculums.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64992" cy="43891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F59E0B"/>
                </a:solidFill>
                <a:latin typeface="Segoe UI"/>
              </a:defRPr>
            </a:pPr>
            <a:r>
              <a:t>03. Assessment &amp; Lab Overhead Friction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  <a:latin typeface="Segoe UI"/>
              </a:defRPr>
            </a:pPr>
            <a:r>
              <a:t>Physical labs and hardware experiments are costly, brittle, and difficult to standardize.</a:t>
            </a:r>
            <a:br/>
            <a:br/>
            <a:r>
              <a:t>• Physical hardware (microcontrollers, breadboards) breaks frequently and demands heavy lab maintenance.</a:t>
            </a:r>
            <a:br/>
            <a:r>
              <a:t>• Instructors lack automated, real-time analytics to pinpoint where teams get stuck.</a:t>
            </a:r>
            <a:br/>
            <a:r>
              <a:t>• Subjective grading fails to measure ABET non-technical competencies (critical thinking, adaptability).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Segoe UI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The MissionX Solution: 100% Web-Based 3D Escape Room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A cloud-hosted SaaS escape room platform bridging gamified simulations, multi-agent co-op, and AI tutoring.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defRPr sz="2000" b="1">
                <a:solidFill>
                  <a:srgbClr val="00F0FF"/>
                </a:solidFill>
                <a:latin typeface="Segoe UI"/>
              </a:defRPr>
            </a:pPr>
            <a:r>
              <a:t>What is MissionX?</a:t>
            </a:r>
          </a:p>
          <a:p>
            <a:pPr>
              <a:spcBef>
                <a:spcPts val="1000"/>
              </a:spcBef>
              <a:defRPr sz="1250">
                <a:solidFill>
                  <a:srgbClr val="F8FAFC"/>
                </a:solidFill>
                <a:latin typeface="Segoe UI"/>
              </a:defRPr>
            </a:pPr>
            <a:r>
              <a:t>MissionX transforms engineering learning into an interactive web-based 3D escape room game.</a:t>
            </a:r>
            <a:br/>
            <a:br/>
            <a:r>
              <a:t>Students step into the shoes of Elite Cyber Operatives racing against a digital countdown clock to resolve system-critical failures across 7+ CS domains.</a:t>
            </a:r>
            <a:br/>
            <a:br/>
            <a:r>
              <a:t>✓ 100% Online &amp; Browser-Accessible: No downloads, no physical hardware setups, no OS barriers.</a:t>
            </a:r>
            <a:br/>
            <a:r>
              <a:t>✓ Dual Interface Model:</a:t>
            </a:r>
            <a:br/>
            <a:r>
              <a:t>   • Student WebGL Portal: 3D rooms, algorithmic consoles &amp; team pings.</a:t>
            </a:r>
            <a:br/>
            <a:r>
              <a:t>   • Game Master Command Center: Real-time room surveillance &amp; timer controls.</a:t>
            </a:r>
            <a:br/>
            <a:r>
              <a:t>✓ Procedural Audio &amp; Voice: Web Audio synthesizer and AI narration.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5303520" cy="132588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500" b="1">
                <a:solidFill>
                  <a:srgbClr val="00F0FF"/>
                </a:solidFill>
                <a:latin typeface="Segoe UI"/>
              </a:defRPr>
            </a:pPr>
            <a:r>
              <a:t>3D WebGL Virtual Rooms</a:t>
            </a:r>
          </a:p>
          <a:p>
            <a:pPr>
              <a:spcBef>
                <a:spcPts val="400"/>
              </a:spcBef>
              <a:defRPr sz="1150">
                <a:solidFill>
                  <a:srgbClr val="F8FAFC"/>
                </a:solidFill>
                <a:latin typeface="Segoe UI"/>
              </a:defRPr>
            </a:pPr>
            <a:r>
              <a:t>Built with Three.js rendering cyberpunk server vaults, glowing terminals, and interactive raycasted inspection nodes.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182112"/>
            <a:ext cx="5303520" cy="132588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500" b="1">
                <a:solidFill>
                  <a:srgbClr val="A855F7"/>
                </a:solidFill>
                <a:latin typeface="Segoe UI"/>
              </a:defRPr>
            </a:pPr>
            <a:r>
              <a:t>Multiplayer Co-Op Synchronization</a:t>
            </a:r>
          </a:p>
          <a:p>
            <a:pPr>
              <a:spcBef>
                <a:spcPts val="400"/>
              </a:spcBef>
              <a:defRPr sz="1150">
                <a:solidFill>
                  <a:srgbClr val="F8FAFC"/>
                </a:solidFill>
                <a:latin typeface="Segoe UI"/>
              </a:defRPr>
            </a:pPr>
            <a:r>
              <a:t>Socket.io synchronizes team rosters, shared stage progression, teammate inspection targets, and live team chat pings.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4718304"/>
            <a:ext cx="5303520" cy="132588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500" b="1">
                <a:solidFill>
                  <a:srgbClr val="10B981"/>
                </a:solidFill>
                <a:latin typeface="Segoe UI"/>
              </a:defRPr>
            </a:pPr>
            <a:r>
              <a:t>AI-Powered Mentorship &amp; Radar Analytics</a:t>
            </a:r>
          </a:p>
          <a:p>
            <a:pPr>
              <a:spcBef>
                <a:spcPts val="400"/>
              </a:spcBef>
              <a:defRPr sz="1150">
                <a:solidFill>
                  <a:srgbClr val="F8FAFC"/>
                </a:solidFill>
                <a:latin typeface="Segoe UI"/>
              </a:defRPr>
            </a:pPr>
            <a:r>
              <a:t>Dual LLM engine (OpenAI &amp; Gemini) providing scaffolded hints with time penalties and automated 15-skill ABET radar certificates.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Segoe UI"/>
              </a:defRPr>
            </a:pPr>
            <a: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Pedagogical Methodology: Experiential Learning &amp; ABET Alignment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Built upon established cognitive learning theories and Outcome-Based Education (OBE).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155448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00F0FF"/>
                </a:solidFill>
                <a:latin typeface="Segoe UI"/>
              </a:defRPr>
            </a:pPr>
            <a:r>
              <a:t>1. Concrete Experience</a:t>
            </a:r>
          </a:p>
          <a:p>
            <a:pPr>
              <a:spcBef>
                <a:spcPts val="6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Immersion in 3D crisis scenarios with ticking clocks &amp; alarm sirens.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468880" cy="155448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A855F7"/>
                </a:solidFill>
                <a:latin typeface="Segoe UI"/>
              </a:defRPr>
            </a:pPr>
            <a:r>
              <a:t>2. Reflective Observation</a:t>
            </a:r>
          </a:p>
          <a:p>
            <a:pPr>
              <a:spcBef>
                <a:spcPts val="6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Analyzing error logs, failed query rollbacks, or packet collision dumps.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2468880" cy="155448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F59E0B"/>
                </a:solidFill>
                <a:latin typeface="Segoe UI"/>
              </a:defRPr>
            </a:pPr>
            <a:r>
              <a:t>3. Conceptualization</a:t>
            </a:r>
          </a:p>
          <a:p>
            <a:pPr>
              <a:spcBef>
                <a:spcPts val="6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Formulating algorithms, calculating CIDR masks, or balancing tree nodes.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1645920"/>
            <a:ext cx="2468880" cy="155448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4. Active Testing</a:t>
            </a:r>
          </a:p>
          <a:p>
            <a:pPr>
              <a:spcBef>
                <a:spcPts val="600"/>
              </a:spcBef>
              <a:defRPr sz="1100">
                <a:solidFill>
                  <a:srgbClr val="F8FAFC"/>
                </a:solidFill>
                <a:latin typeface="Segoe UI"/>
              </a:defRPr>
            </a:pPr>
            <a:r>
              <a:t>Executing code fixes &amp; virtual unlocks to restore critical server vaults.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74720"/>
            <a:ext cx="10698480" cy="265176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500" b="1">
                <a:solidFill>
                  <a:srgbClr val="00F0FF"/>
                </a:solidFill>
                <a:latin typeface="Segoe UI"/>
              </a:defRPr>
            </a:pPr>
            <a:r>
              <a:t>Direct Mapping to Course Outcomes (25SC2008E - Full Stack Web Development)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Segoe UI"/>
              </a:defRPr>
            </a:pPr>
            <a:r>
              <a:t>• CO1 (Responsive Design &amp; 3D Spatial Canvas): Cyberpunk glassmorphism, dynamic layouts, and Three.js WebGL rendering.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Segoe UI"/>
              </a:defRPr>
            </a:pPr>
            <a:r>
              <a:t>• CO2 (Asynchronous DOM &amp; Multimedia Integration): Procedural Web Audio API sound generator and Web Speech API voice synthesis.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Segoe UI"/>
              </a:defRPr>
            </a:pPr>
            <a:r>
              <a:t>• CO3 (State Management &amp; Analytics Visualization): React hooks, contextual team state, and 15-metric Recharts Skill Radar.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Segoe UI"/>
              </a:defRPr>
            </a:pPr>
            <a:r>
              <a:t>• CO4 (Scalable RESTful API Architecture): Modular Express.js services, JWT auth, Helmet headers, and centralized error logging.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Segoe UI"/>
              </a:defRPr>
            </a:pPr>
            <a:r>
              <a:t>• CO5 (Real-Time Bidirectional Event Streaming): Socket.io multi-room co-op sync and virtual MQTT telemetry bus.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Segoe UI"/>
              </a:defRPr>
            </a:pPr>
            <a:r>
              <a:t>• CO6 (Microservices, Containerization &amp; CI/CD): Multi-stage Docker, Kubernetes Helm charts, and automated E2E testing scripts.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Segoe UI"/>
              </a:defRPr>
            </a:pPr>
            <a: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Comprehensive Software Architecture &amp; Tech Stack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A decoupled, modern cloud-native stack optimized for sub-15ms real-time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64992" cy="43891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500" b="1">
                <a:solidFill>
                  <a:srgbClr val="00F0FF"/>
                </a:solidFill>
                <a:latin typeface="Segoe UI"/>
              </a:defRPr>
            </a:pPr>
            <a:r>
              <a:t>Frontend &amp; Presentation Layer</a:t>
            </a:r>
          </a:p>
          <a:p>
            <a:pPr>
              <a:spcBef>
                <a:spcPts val="1200"/>
              </a:spcBef>
              <a:defRPr sz="1150">
                <a:solidFill>
                  <a:srgbClr val="F8FAFC"/>
                </a:solidFill>
                <a:latin typeface="Segoe UI"/>
              </a:defRPr>
            </a:pPr>
            <a:r>
              <a:t>• Next.js 14 (App Router) &amp; React 18: High-performance modular architecture.</a:t>
            </a:r>
            <a:br/>
            <a:r>
              <a:t>• Tailwind CSS &amp; Framer Motion: Cyberpunk aesthetics &amp; smooth micro-animations.</a:t>
            </a:r>
            <a:br/>
            <a:r>
              <a:t>• Three.js (WebGL Canvas): Interactive 3D escape room environment.</a:t>
            </a:r>
            <a:br/>
            <a:r>
              <a:t>• Web Audio API &amp; Web Speech API: Pure procedural sound FX and AI voice briefings.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64992" cy="43891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500" b="1">
                <a:solidFill>
                  <a:srgbClr val="A855F7"/>
                </a:solidFill>
                <a:latin typeface="Segoe UI"/>
              </a:defRPr>
            </a:pPr>
            <a:r>
              <a:t>Backend &amp; Real-Time Engine</a:t>
            </a:r>
          </a:p>
          <a:p>
            <a:pPr>
              <a:spcBef>
                <a:spcPts val="1200"/>
              </a:spcBef>
              <a:defRPr sz="1150">
                <a:solidFill>
                  <a:srgbClr val="F8FAFC"/>
                </a:solidFill>
                <a:latin typeface="Segoe UI"/>
              </a:defRPr>
            </a:pPr>
            <a:r>
              <a:t>• Node.js &amp; Express.js: Scalable RESTful API microservices with Morgan &amp; Helmet.</a:t>
            </a:r>
            <a:br/>
            <a:r>
              <a:t>• Socket.io: Real-time team roster sync, shared stage unlocks, and chat pings.</a:t>
            </a:r>
            <a:br/>
            <a:r>
              <a:t>• MQTT.js (HiveMQ Broker): High-throughput virtual telemetry pub/sub channel.</a:t>
            </a:r>
            <a:br/>
            <a:r>
              <a:t>• Self-Healing Watchdog Engine: Background service auto-reconnecting dropouts.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64992" cy="43891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500" b="1">
                <a:solidFill>
                  <a:srgbClr val="10B981"/>
                </a:solidFill>
                <a:latin typeface="Segoe UI"/>
              </a:defRPr>
            </a:pPr>
            <a:r>
              <a:t>Databases, AI &amp; DevOps</a:t>
            </a:r>
          </a:p>
          <a:p>
            <a:pPr>
              <a:spcBef>
                <a:spcPts val="1200"/>
              </a:spcBef>
              <a:defRPr sz="1150">
                <a:solidFill>
                  <a:srgbClr val="F8FAFC"/>
                </a:solidFill>
                <a:latin typeface="Segoe UI"/>
              </a:defRPr>
            </a:pPr>
            <a:r>
              <a:t>• MongoDB &amp; Mongoose: Document store for missions, rooms, puzzles, and users.</a:t>
            </a:r>
            <a:br/>
            <a:r>
              <a:t>• Redis Cache: High-speed session caching and leaderboard rankings.</a:t>
            </a:r>
            <a:br/>
            <a:r>
              <a:t>• Dual AI LLM Service: OpenAI GPT-4o &amp; Google Gemini API for hint generation.</a:t>
            </a:r>
            <a:br/>
            <a:r>
              <a:t>• Docker &amp; Kubernetes (Helm): Containerized orchestration and multi-cloud deployment.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Segoe UI"/>
              </a:defRPr>
            </a:pPr>
            <a:r>
              <a:t>VIRTUAL SENSORS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What We Are &amp; How 'Sensors' Work: 100% Software-Driven Simulation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Clarifying our zero-hardware implementation and how physical escape room mechanics are simulated in software.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698480" cy="822960"/>
          </a:xfrm>
          <a:prstGeom prst="roundRect">
            <a:avLst/>
          </a:prstGeom>
          <a:solidFill>
            <a:srgbClr val="1E2941"/>
          </a:solidFill>
          <a:ln w="1270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/>
          <a:lstStyle/>
          <a:p>
            <a:pPr algn="ctr">
              <a:defRPr sz="1300" b="1">
                <a:solidFill>
                  <a:srgbClr val="00F0FF"/>
                </a:solidFill>
                <a:latin typeface="Segoe UI"/>
              </a:defRPr>
            </a:pPr>
            <a:r>
              <a:t>★ CORE IDENTITY: 100% PURE SOFTWARE ONLINE GAME — ZERO HARDWARE SENSORS REQUIRED</a:t>
            </a:r>
          </a:p>
          <a:p>
            <a:pPr>
              <a:spcBef>
                <a:spcPts val="200"/>
              </a:spcBef>
              <a:defRPr sz="1050">
                <a:solidFill>
                  <a:srgbClr val="F8FAFC"/>
                </a:solidFill>
                <a:latin typeface="Segoe UI"/>
              </a:defRPr>
            </a:pPr>
            <a:r>
              <a:t>Our project runs entirely in web browsers without any physical breadboards, microcontrollers (ESP32), or wires. All 'sensors' and 'locks' are implemented as software-simulated game mechanics, 3D raycasting events, and virtual MQTT messages.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2468880" cy="25603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00F0FF"/>
                </a:solidFill>
                <a:latin typeface="Segoe UI"/>
              </a:defRPr>
            </a:pPr>
            <a:r>
              <a:t>Virtual RFID Reader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  <a:latin typeface="Segoe UI"/>
              </a:defRPr>
            </a:pPr>
            <a:r>
              <a:t>• How It Works: Completing algorithm puzzles (e.g. A* search) awards a virtual keycard hash (e.g. 'TAG_CARD_ASTAR_7').</a:t>
            </a:r>
            <a:br/>
            <a:r>
              <a:t>• In-Game Effect: Validating the keycard digitally disengages the stage lock and unlocks the next 3D chamber.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560320"/>
            <a:ext cx="2468880" cy="25603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EF4444"/>
                </a:solidFill>
                <a:latin typeface="Segoe UI"/>
              </a:defRPr>
            </a:pPr>
            <a:r>
              <a:t>Virtual Laser Security Grid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  <a:latin typeface="Segoe UI"/>
              </a:defRPr>
            </a:pPr>
            <a:r>
              <a:t>• How It Works: Interactive laser beams rendered inside the Three.js 3D canvas.</a:t>
            </a:r>
            <a:br/>
            <a:r>
              <a:t>• In-Game Effect: Stepping into or misclicking a laser zone triggers a collision event, flashing red visual alarms and deducting 60s from the clock.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60320"/>
            <a:ext cx="2468880" cy="25603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A855F7"/>
                </a:solidFill>
                <a:latin typeface="Segoe UI"/>
              </a:defRPr>
            </a:pPr>
            <a:r>
              <a:t>Virtual Proximity (Ultrasonic)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  <a:latin typeface="Segoe UI"/>
              </a:defRPr>
            </a:pPr>
            <a:r>
              <a:t>• How It Works: Software calculates player camera coordinates and raycasted distance to in-game 3D server racks.</a:t>
            </a:r>
            <a:br/>
            <a:r>
              <a:t>• In-Game Effect: Approaching terminals automatically activates holographic UI screens and decrypt consoles.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2560320"/>
            <a:ext cx="2468880" cy="25603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Virtual Actuator / Solenoid Lock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  <a:latin typeface="Segoe UI"/>
              </a:defRPr>
            </a:pPr>
            <a:r>
              <a:t>• How It Works: Vault doors exist as animated 3D meshes controlled by a software state machine ('LOCKED' -&gt; 'UNLOCKED').</a:t>
            </a:r>
            <a:br/>
            <a:r>
              <a:t>• In-Game Effect: Completing stage criteria dispatches an unlock command accompanied by Web Audio procedural chimes.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03520"/>
            <a:ext cx="10698480" cy="100584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/>
          <a:lstStyle/>
          <a:p>
            <a:pPr algn="ctr">
              <a:defRPr sz="1200" b="1">
                <a:solidFill>
                  <a:srgbClr val="F59E0B"/>
                </a:solidFill>
                <a:latin typeface="Segoe UI"/>
              </a:defRPr>
            </a:pPr>
            <a:r>
              <a:t>Built-in Virtual Simulator (/simulator) &amp; Future Hardware-Ready Extensibility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1. Built-in Simulator: Allows instructors &amp; testers to manually inject virtual sensor telemetry packets (RFID, PIR, Ultrasonic) to test room states.</a:t>
            </a:r>
            <a:br/>
            <a:r>
              <a:t>2. Future-Ready Architecture: Because our backend listens to standard MQTT topics ('missionx/room/+/sensor'), physical ESP32 boards could be plugged in seamlessly in the future without changing any backend code!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Segoe UI"/>
              </a:defRPr>
            </a:pPr>
            <a:r>
              <a:t>CURRICULUM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Multi-Domain Mission Library &amp; Interactive Puzzles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Covering 7+ core Computer Science domains through bespoke interactive visualizers.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64992" cy="201168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500" b="1">
                <a:solidFill>
                  <a:srgbClr val="00F0FF"/>
                </a:solidFill>
                <a:latin typeface="Segoe UI"/>
              </a:defRPr>
            </a:pPr>
            <a:r>
              <a:t>Artificial Intelligence</a:t>
            </a:r>
          </a:p>
          <a:p>
            <a:pPr>
              <a:spcBef>
                <a:spcPts val="600"/>
              </a:spcBef>
              <a:defRPr sz="1150">
                <a:solidFill>
                  <a:srgbClr val="F8FAFC"/>
                </a:solidFill>
                <a:latin typeface="Segoe UI"/>
              </a:defRPr>
            </a:pPr>
            <a:r>
              <a:t>A* Pathfinding Grid visualizer (Manhattan heuristics) &amp; Neural Network weight calibrator.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64992" cy="201168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500" b="1">
                <a:solidFill>
                  <a:srgbClr val="A855F7"/>
                </a:solidFill>
                <a:latin typeface="Segoe UI"/>
              </a:defRPr>
            </a:pPr>
            <a:r>
              <a:t>Computer Networks</a:t>
            </a:r>
          </a:p>
          <a:p>
            <a:pPr>
              <a:spcBef>
                <a:spcPts val="600"/>
              </a:spcBef>
              <a:defRPr sz="1150">
                <a:solidFill>
                  <a:srgbClr val="F8FAFC"/>
                </a:solidFill>
                <a:latin typeface="Segoe UI"/>
              </a:defRPr>
            </a:pPr>
            <a:r>
              <a:t>VLSM CIDR Subnetting (/24-/28) router configurator &amp; Breadth-First Search (BFS) packet routing.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64992" cy="201168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500" b="1">
                <a:solidFill>
                  <a:srgbClr val="10B981"/>
                </a:solidFill>
                <a:latin typeface="Segoe UI"/>
              </a:defRPr>
            </a:pPr>
            <a:r>
              <a:t>Data Structures</a:t>
            </a:r>
          </a:p>
          <a:p>
            <a:pPr>
              <a:spcBef>
                <a:spcPts val="600"/>
              </a:spcBef>
              <a:defRPr sz="1150">
                <a:solidFill>
                  <a:srgbClr val="F8FAFC"/>
                </a:solidFill>
                <a:latin typeface="Segoe UI"/>
              </a:defRPr>
            </a:pPr>
            <a:r>
              <a:t>Self-Balancing AVL Tree Rotations (LL, RR, LR, RL) &amp; 0/1 Knapsack Dynamic Programming matrix.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40"/>
            <a:ext cx="3364992" cy="201168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500" b="1">
                <a:solidFill>
                  <a:srgbClr val="F59E0B"/>
                </a:solidFill>
                <a:latin typeface="Segoe UI"/>
              </a:defRPr>
            </a:pPr>
            <a:r>
              <a:t>Operating Systems</a:t>
            </a:r>
          </a:p>
          <a:p>
            <a:pPr>
              <a:spcBef>
                <a:spcPts val="600"/>
              </a:spcBef>
              <a:defRPr sz="1150">
                <a:solidFill>
                  <a:srgbClr val="F8FAFC"/>
                </a:solidFill>
                <a:latin typeface="Segoe UI"/>
              </a:defRPr>
            </a:pPr>
            <a:r>
              <a:t>Virtual Memory Page Replacement Simulator (LRU, FIFO, Optimal) to clear memory thrashing.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977640"/>
            <a:ext cx="3364992" cy="201168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500" b="1">
                <a:solidFill>
                  <a:srgbClr val="00F0FF"/>
                </a:solidFill>
                <a:latin typeface="Segoe UI"/>
              </a:defRPr>
            </a:pPr>
            <a:r>
              <a:t>Databases &amp; SQL</a:t>
            </a:r>
          </a:p>
          <a:p>
            <a:pPr>
              <a:spcBef>
                <a:spcPts val="600"/>
              </a:spcBef>
              <a:defRPr sz="1150">
                <a:solidFill>
                  <a:srgbClr val="F8FAFC"/>
                </a:solidFill>
                <a:latin typeface="Segoe UI"/>
              </a:defRPr>
            </a:pPr>
            <a:r>
              <a:t>Multi-table Relational SQL Join console (patients, vault_keys) and transaction rollback auditors.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977640"/>
            <a:ext cx="3364992" cy="201168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500" b="1">
                <a:solidFill>
                  <a:srgbClr val="EF4444"/>
                </a:solidFill>
                <a:latin typeface="Segoe UI"/>
              </a:defRPr>
            </a:pPr>
            <a:r>
              <a:t>Cyber Security</a:t>
            </a:r>
          </a:p>
          <a:p>
            <a:pPr>
              <a:spcBef>
                <a:spcPts val="600"/>
              </a:spcBef>
              <a:defRPr sz="1150">
                <a:solidFill>
                  <a:srgbClr val="F8FAFC"/>
                </a:solidFill>
                <a:latin typeface="Segoe UI"/>
              </a:defRPr>
            </a:pPr>
            <a:r>
              <a:t>Bitwise XOR Cryptographic Ransomware Decryption &amp; Zero-Knowledge Proofs (zk-SNARKs) passcodes.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Segoe UI"/>
              </a:defRPr>
            </a:pPr>
            <a:r>
              <a:t>AI ENGINES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AI Mentorship Micro-Engines: Scaffolded Learning with Penalties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Intelligent tutoring that guides students through crises without giving away direct answers.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64992" cy="43891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500" b="1">
                <a:solidFill>
                  <a:srgbClr val="00F0FF"/>
                </a:solidFill>
                <a:latin typeface="Segoe UI"/>
              </a:defRPr>
            </a:pPr>
            <a:r>
              <a:t>3-Tier Context-Aware Hint Engine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  <a:latin typeface="Segoe UI"/>
              </a:defRPr>
            </a:pPr>
            <a:r>
              <a:t>Prevents game deadlock using adaptive, tiered guidance tied to clock penalties:</a:t>
            </a:r>
            <a:br/>
            <a:br/>
            <a:r>
              <a:t>• Tier 1 (Subtle Nudge): Points out conceptual focus areas. (0 min penalty)</a:t>
            </a:r>
            <a:br/>
            <a:r>
              <a:t>• Tier 2 (Technical Formula): Provides mathematical equations &amp; theory. (-2 min penalty)</a:t>
            </a:r>
            <a:br/>
            <a:r>
              <a:t>• Tier 3 (Direct Solution Step): Actionable override code when severely stuck. (-5 min penalty)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64992" cy="43891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500" b="1">
                <a:solidFill>
                  <a:srgbClr val="A855F7"/>
                </a:solidFill>
                <a:latin typeface="Segoe UI"/>
              </a:defRPr>
            </a:pPr>
            <a:r>
              <a:t>Dual-LLM AI Tutor Chatbot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  <a:latin typeface="Segoe UI"/>
              </a:defRPr>
            </a:pPr>
            <a:r>
              <a:t>In-game floating HUD co-pilot supporting multiple leading models:</a:t>
            </a:r>
            <a:br/>
            <a:br/>
            <a:r>
              <a:t>• OpenAI GPT-4o &amp; Google Gemini 1.5 Pro/Flash integration via secure backend micro-services.</a:t>
            </a:r>
            <a:br/>
            <a:r>
              <a:t>• Context-Aware Prompting: The LLM knows the current room stage, failed attempts, and elapsed time.</a:t>
            </a:r>
            <a:br/>
            <a:r>
              <a:t>• Web Speech API integration for audible AI voice responses in the browser.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64992" cy="43891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500" b="1">
                <a:solidFill>
                  <a:srgbClr val="10B981"/>
                </a:solidFill>
                <a:latin typeface="Segoe UI"/>
              </a:defRPr>
            </a:pPr>
            <a:r>
              <a:t>Automated AI Code Reviewer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  <a:latin typeface="Segoe UI"/>
              </a:defRPr>
            </a:pPr>
            <a:r>
              <a:t>Static algorithmic analysis of student submissions:</a:t>
            </a:r>
            <a:br/>
            <a:br/>
            <a:r>
              <a:t>• Evaluates student solutions for Big-O time and space complexity (e.g. validating O(N log N)).</a:t>
            </a:r>
            <a:br/>
            <a:r>
              <a:t>• Flags subtle security flaws, memory leaks, or unhandled edge cases.</a:t>
            </a:r>
            <a:br/>
            <a:r>
              <a:t>• Dynamic Difficulty Scaler: Dynamically adjusts puzzle distractors based on escape velocity.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Segoe UI"/>
              </a:defRPr>
            </a:pPr>
            <a:r>
              <a:t>DEVOPS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Enterprise Cloud Architecture, Observability &amp; Resilience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Engineered for high availability, low latency, and zero downtime in production.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64992" cy="43891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500" b="1">
                <a:solidFill>
                  <a:srgbClr val="00F0FF"/>
                </a:solidFill>
                <a:latin typeface="Segoe UI"/>
              </a:defRPr>
            </a:pPr>
            <a:r>
              <a:t>Containerization &amp; Orchestration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  <a:latin typeface="Segoe UI"/>
              </a:defRPr>
            </a:pPr>
            <a:r>
              <a:t>• Multi-Stage Dockerfiles: Lightweight production images with multi-stage caching.</a:t>
            </a:r>
            <a:br/>
            <a:r>
              <a:t>• Docker Compose &amp; Kubernetes (Helm): Automated deployment charts for Frontend, Backend, MongoDB, and HiveMQ.</a:t>
            </a:r>
            <a:br/>
            <a:r>
              <a:t>• Terraform IaC: Multi-cloud Infrastructure-as-Code templates for AWS EKS, GCP GKE, and Azure AKS.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64992" cy="43891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500" b="1">
                <a:solidFill>
                  <a:srgbClr val="A855F7"/>
                </a:solidFill>
                <a:latin typeface="Segoe UI"/>
              </a:defRPr>
            </a:pPr>
            <a:r>
              <a:t>Service Mesh &amp; Security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  <a:latin typeface="Segoe UI"/>
              </a:defRPr>
            </a:pPr>
            <a:r>
              <a:t>• Istio Service Mesh &amp; Envoy Proxies: Sidecar proxy routing with mutual TLS (mTLS) zero-trust encryption.</a:t>
            </a:r>
            <a:br/>
            <a:r>
              <a:t>• Circuit Breaker Policies: Protects backend from telemetry overload during concurrent classroom sessions.</a:t>
            </a:r>
            <a:br/>
            <a:r>
              <a:t>• Helmet &amp; CORS Security Headers: Enforces strict HTTP policies and XSS protections.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64992" cy="43891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500" b="1">
                <a:solidFill>
                  <a:srgbClr val="10B981"/>
                </a:solidFill>
                <a:latin typeface="Segoe UI"/>
              </a:defRPr>
            </a:pPr>
            <a:r>
              <a:t>Observability &amp; Self-Healing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  <a:latin typeface="Segoe UI"/>
              </a:defRPr>
            </a:pPr>
            <a:r>
              <a:t>• Prometheus &amp; Grafana Dashboards: Live tracking of WebSocket room latency (&lt;15ms) and MQTT message throughput.</a:t>
            </a:r>
            <a:br/>
            <a:r>
              <a:t>• Autonomous Self-Healing Watchdog: Background service automatically reconnecting dropped sockets and telemetry buses.</a:t>
            </a:r>
            <a:br/>
            <a:r>
              <a:t>• Chaos Engineering: Resilience validated with Chaos Mesh network latency and pod kill experiments.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F0FF"/>
                </a:solidFill>
                <a:latin typeface="Segoe UI"/>
              </a:defRPr>
            </a:pPr>
            <a:r>
              <a:t>EVALUATION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Learning Analytics, ABET Skill Passports &amp; Conclusion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Segoe UI"/>
              </a:defRPr>
            </a:pPr>
            <a:r>
              <a:t>Automated verification of student learning outcomes and future platform roadmap.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defRPr sz="1800" b="1">
                <a:solidFill>
                  <a:srgbClr val="00F0FF"/>
                </a:solidFill>
                <a:latin typeface="Segoe UI"/>
              </a:defRPr>
            </a:pPr>
            <a:r>
              <a:t>15-Metric Skill Radar &amp; Certification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  <a:latin typeface="Segoe UI"/>
              </a:defRPr>
            </a:pPr>
            <a:r>
              <a:t>• Multi-Dimensional Competency Tracking:</a:t>
            </a:r>
            <a:br/>
            <a:r>
              <a:t>   Tracks 15 technical and soft skills including Critical Thinking, Algorithmic Optimization, Decision Making, and Team Leadership.</a:t>
            </a:r>
            <a:br/>
            <a:br/>
            <a:r>
              <a:t>• Official Verified Skill Radar Certificate:</a:t>
            </a:r>
            <a:br/>
            <a:r>
              <a:t>   Generates verifiable student certificates with QR code authentication, cryptographic hash (e.g. 0x9F42A7), and ABET CO1-CO6 Outcome Matrices.</a:t>
            </a:r>
            <a:br/>
            <a:br/>
            <a:r>
              <a:t>• Steam Workshop Educator Studio (/creator):</a:t>
            </a:r>
            <a:br/>
            <a:r>
              <a:t>   Allows educators to configure custom rooms, narrative briefings, and puzzle logic without writing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5303520" cy="438912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defRPr sz="1800" b="1">
                <a:solidFill>
                  <a:srgbClr val="10B981"/>
                </a:solidFill>
                <a:latin typeface="Segoe UI"/>
              </a:defRPr>
            </a:pPr>
            <a:r>
              <a:t>Summary &amp; Key Takeaways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  <a:latin typeface="Segoe UI"/>
              </a:defRPr>
            </a:pPr>
            <a:r>
              <a:t>1. 100% Pure Software Online Game:</a:t>
            </a:r>
            <a:br/>
            <a:r>
              <a:t>   Zero physical hardware required. Solves the friction of costly lab equipment and allows any student with a browser to play.</a:t>
            </a:r>
            <a:br/>
            <a:br/>
            <a:r>
              <a:t>2. Experiential &amp; Outcome-Driven:</a:t>
            </a:r>
            <a:br/>
            <a:r>
              <a:t>   Proves that high-stakes gamified simulations dramatically boost retention and fulfill rigorous ABET CO1-CO6 engineering outcomes.</a:t>
            </a:r>
            <a:br/>
            <a:br/>
            <a:r>
              <a:t>3. Future-Ready Architecture:</a:t>
            </a:r>
            <a:br/>
            <a:r>
              <a:t>   Plug-and-play MQTT design enables future physical lab extensions or WebXR (Apple Vision Pro / Meta Quest) spatial computing.</a:t>
            </a:r>
            <a:br/>
            <a:br/>
            <a:r>
              <a:t>Conclusion: MissionX turns abstract computer science education into an unforgettable, measurable team adventure.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